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3" r:id="rId4"/>
    <p:sldId id="258" r:id="rId5"/>
    <p:sldId id="270" r:id="rId6"/>
    <p:sldId id="260" r:id="rId7"/>
    <p:sldId id="262" r:id="rId8"/>
    <p:sldId id="272" r:id="rId9"/>
    <p:sldId id="264" r:id="rId10"/>
    <p:sldId id="265" r:id="rId11"/>
    <p:sldId id="266" r:id="rId12"/>
    <p:sldId id="267" r:id="rId13"/>
    <p:sldId id="268" r:id="rId14"/>
    <p:sldId id="269" r:id="rId15"/>
    <p:sldId id="271" r:id="rId16"/>
    <p:sldId id="273" r:id="rId17"/>
    <p:sldId id="274" r:id="rId18"/>
    <p:sldId id="275"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142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 Id="rId4" Type="http://schemas.openxmlformats.org/officeDocument/2006/relationships/image" Target="../media/image18.sv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320" y="358520"/>
            <a:ext cx="8741664" cy="1878140"/>
          </a:xfrm>
        </p:spPr>
        <p:txBody>
          <a:bodyPr>
            <a:normAutofit/>
          </a:bodyPr>
          <a:lstStyle/>
          <a:p>
            <a:r>
              <a:rPr lang="en-US" sz="3800" dirty="0">
                <a:latin typeface="Times New Roman" panose="02020603050405020304" pitchFamily="18" charset="0"/>
                <a:cs typeface="Times New Roman" panose="02020603050405020304" pitchFamily="18" charset="0"/>
              </a:rPr>
              <a:t>INFOSYS SPRINGBOARD VIRTUAL INTERNSHIP 6.0  </a:t>
            </a:r>
            <a:br>
              <a:rPr lang="en-US" sz="3800" dirty="0">
                <a:latin typeface="Times New Roman" panose="02020603050405020304" pitchFamily="18" charset="0"/>
                <a:cs typeface="Times New Roman" panose="02020603050405020304" pitchFamily="18" charset="0"/>
              </a:rPr>
            </a:br>
            <a:r>
              <a:rPr lang="en-US" sz="3800" dirty="0">
                <a:latin typeface="Times New Roman" panose="02020603050405020304" pitchFamily="18" charset="0"/>
                <a:cs typeface="Times New Roman" panose="02020603050405020304" pitchFamily="18" charset="0"/>
              </a:rPr>
              <a:t>TEAM D</a:t>
            </a:r>
          </a:p>
        </p:txBody>
      </p:sp>
      <p:sp>
        <p:nvSpPr>
          <p:cNvPr id="3" name="Subtitle 2"/>
          <p:cNvSpPr>
            <a:spLocks noGrp="1"/>
          </p:cNvSpPr>
          <p:nvPr>
            <p:ph type="subTitle" idx="1"/>
          </p:nvPr>
        </p:nvSpPr>
        <p:spPr>
          <a:xfrm>
            <a:off x="338328" y="2450592"/>
            <a:ext cx="8467344" cy="1691640"/>
          </a:xfrm>
        </p:spPr>
        <p:txBody>
          <a:bodyPr>
            <a:noAutofit/>
          </a:bodyPr>
          <a:lstStyle/>
          <a:p>
            <a:r>
              <a:rPr lang="en-US" sz="4400" dirty="0">
                <a:solidFill>
                  <a:schemeClr val="tx1"/>
                </a:solidFill>
                <a:latin typeface="Times New Roman" panose="02020603050405020304" pitchFamily="18" charset="0"/>
                <a:cs typeface="Times New Roman" panose="02020603050405020304" pitchFamily="18" charset="0"/>
              </a:rPr>
              <a:t> BUDGETWISE AI BASED EXPENSE FORECASTING TOOL</a:t>
            </a:r>
          </a:p>
        </p:txBody>
      </p:sp>
      <p:sp>
        <p:nvSpPr>
          <p:cNvPr id="4" name="TextBox 3">
            <a:extLst>
              <a:ext uri="{FF2B5EF4-FFF2-40B4-BE49-F238E27FC236}">
                <a16:creationId xmlns:a16="http://schemas.microsoft.com/office/drawing/2014/main" id="{9EA5187E-9EFB-CE75-FA58-2068D2AF9FCA}"/>
              </a:ext>
            </a:extLst>
          </p:cNvPr>
          <p:cNvSpPr txBox="1"/>
          <p:nvPr/>
        </p:nvSpPr>
        <p:spPr>
          <a:xfrm>
            <a:off x="6775704" y="4853891"/>
            <a:ext cx="1600200" cy="1107996"/>
          </a:xfrm>
          <a:prstGeom prst="rect">
            <a:avLst/>
          </a:prstGeom>
          <a:noFill/>
        </p:spPr>
        <p:txBody>
          <a:bodyPr wrap="square" rtlCol="0">
            <a:spAutoFit/>
          </a:bodyPr>
          <a:lstStyle/>
          <a:p>
            <a:r>
              <a:rPr lang="en-IN" sz="2200" dirty="0">
                <a:latin typeface="Constantia" panose="02030602050306030303" pitchFamily="18" charset="0"/>
              </a:rPr>
              <a:t>BY</a:t>
            </a:r>
          </a:p>
          <a:p>
            <a:r>
              <a:rPr lang="en-IN" sz="2200" dirty="0">
                <a:latin typeface="Constantia" panose="02030602050306030303" pitchFamily="18" charset="0"/>
              </a:rPr>
              <a:t>RISHIKA A</a:t>
            </a:r>
          </a:p>
          <a:p>
            <a:endParaRPr lang="en-IN" sz="2200" dirty="0">
              <a:latin typeface="Constantia" panose="02030602050306030303" pitchFamily="18" charset="0"/>
            </a:endParaRPr>
          </a:p>
        </p:txBody>
      </p:sp>
      <p:sp>
        <p:nvSpPr>
          <p:cNvPr id="5" name="TextBox 4">
            <a:extLst>
              <a:ext uri="{FF2B5EF4-FFF2-40B4-BE49-F238E27FC236}">
                <a16:creationId xmlns:a16="http://schemas.microsoft.com/office/drawing/2014/main" id="{99853AED-835E-A4A3-E5AA-D8B20B70E8A8}"/>
              </a:ext>
            </a:extLst>
          </p:cNvPr>
          <p:cNvSpPr txBox="1"/>
          <p:nvPr/>
        </p:nvSpPr>
        <p:spPr>
          <a:xfrm>
            <a:off x="2990088" y="4125331"/>
            <a:ext cx="6153912"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MENTOR: SANGEETHA MAHALINGAM</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7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entury" panose="02040604050505020304" pitchFamily="18" charset="0"/>
              </a:rPr>
              <a:t>ABSTRACT</a:t>
            </a:r>
          </a:p>
        </p:txBody>
      </p:sp>
      <p:sp>
        <p:nvSpPr>
          <p:cNvPr id="4" name="Rectangle 1">
            <a:extLst>
              <a:ext uri="{FF2B5EF4-FFF2-40B4-BE49-F238E27FC236}">
                <a16:creationId xmlns:a16="http://schemas.microsoft.com/office/drawing/2014/main" id="{BA81D930-C086-A9BE-0D9F-C02810CE0F9C}"/>
              </a:ext>
            </a:extLst>
          </p:cNvPr>
          <p:cNvSpPr>
            <a:spLocks noChangeArrowheads="1"/>
          </p:cNvSpPr>
          <p:nvPr/>
        </p:nvSpPr>
        <p:spPr bwMode="auto">
          <a:xfrm flipH="1">
            <a:off x="310896" y="1846552"/>
            <a:ext cx="852220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b="1" dirty="0">
                <a:latin typeface="Times New Roman" panose="02020603050405020304" pitchFamily="18" charset="0"/>
                <a:cs typeface="Times New Roman" panose="02020603050405020304" pitchFamily="18" charset="0"/>
              </a:rPr>
              <a:t>BUDGETWISE AI BASED EXPENSE FORECASTING TOOL is an intelligent personal finance management system that enables users to track expenses, plan budgets, and make informed financial decisions. The system integrates a modern web interface with a machine learning-driven backend to provide real-time insights into spending </a:t>
            </a:r>
            <a:r>
              <a:rPr lang="en-US" b="1" dirty="0" err="1">
                <a:latin typeface="Times New Roman" panose="02020603050405020304" pitchFamily="18" charset="0"/>
                <a:cs typeface="Times New Roman" panose="02020603050405020304" pitchFamily="18" charset="0"/>
              </a:rPr>
              <a:t>behaviour</a:t>
            </a:r>
            <a:r>
              <a:rPr lang="en-US" b="1" dirty="0">
                <a:latin typeface="Times New Roman" panose="02020603050405020304" pitchFamily="18" charset="0"/>
                <a:cs typeface="Times New Roman" panose="02020603050405020304" pitchFamily="18" charset="0"/>
              </a:rPr>
              <a:t>. Users can record expenses, view visual summaries, and generate monthly budgets through an interactive dashboard. The application employs statistical models and Random Forest algorithms to predict future expenditures and detect anomalous transactions based on historical data. Additionally, an AI-enabled chatbot offers personalized suggestions to improve financial discipline. Data is securely stored using Firebase Authentication and </a:t>
            </a:r>
            <a:r>
              <a:rPr lang="en-US" b="1" dirty="0" err="1">
                <a:latin typeface="Times New Roman" panose="02020603050405020304" pitchFamily="18" charset="0"/>
                <a:cs typeface="Times New Roman" panose="02020603050405020304" pitchFamily="18" charset="0"/>
              </a:rPr>
              <a:t>Firestore</a:t>
            </a:r>
            <a:r>
              <a:rPr lang="en-US" b="1" dirty="0">
                <a:latin typeface="Times New Roman" panose="02020603050405020304" pitchFamily="18" charset="0"/>
                <a:cs typeface="Times New Roman" panose="02020603050405020304" pitchFamily="18" charset="0"/>
              </a:rPr>
              <a:t>, ensuring reliable access and privacy. By combining expense management, predictive analytics, and interactive visualization, it enhances user awareness, supports better financial planning, and promotes healthier budgeting habits.</a:t>
            </a: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86B8DA-C48F-F8A0-C8F6-E0495084B014}"/>
              </a:ext>
            </a:extLst>
          </p:cNvPr>
          <p:cNvSpPr txBox="1"/>
          <p:nvPr/>
        </p:nvSpPr>
        <p:spPr>
          <a:xfrm>
            <a:off x="457200" y="176630"/>
            <a:ext cx="8421624" cy="523220"/>
          </a:xfrm>
          <a:prstGeom prst="rect">
            <a:avLst/>
          </a:prstGeom>
          <a:noFill/>
        </p:spPr>
        <p:txBody>
          <a:bodyPr wrap="square">
            <a:spAutoFit/>
          </a:bodyPr>
          <a:lstStyle/>
          <a:p>
            <a:r>
              <a:rPr lang="en-US" sz="2800" b="1" dirty="0">
                <a:latin typeface="Constantia" panose="02030602050306030303" pitchFamily="18" charset="0"/>
              </a:rPr>
              <a:t>PROBLEM — WHY PEOPLE NEED BUDGETWISE</a:t>
            </a:r>
            <a:endParaRPr lang="en-IN" sz="2800" b="1" dirty="0">
              <a:latin typeface="Constantia" panose="02030602050306030303" pitchFamily="18" charset="0"/>
            </a:endParaRPr>
          </a:p>
        </p:txBody>
      </p:sp>
      <p:sp>
        <p:nvSpPr>
          <p:cNvPr id="4" name="Rectangle 1">
            <a:extLst>
              <a:ext uri="{FF2B5EF4-FFF2-40B4-BE49-F238E27FC236}">
                <a16:creationId xmlns:a16="http://schemas.microsoft.com/office/drawing/2014/main" id="{A623DA38-E260-2A26-493C-BC65EC336620}"/>
              </a:ext>
            </a:extLst>
          </p:cNvPr>
          <p:cNvSpPr>
            <a:spLocks noChangeArrowheads="1"/>
          </p:cNvSpPr>
          <p:nvPr/>
        </p:nvSpPr>
        <p:spPr bwMode="auto">
          <a:xfrm>
            <a:off x="1074420" y="1057619"/>
            <a:ext cx="699516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Myanmar Text" panose="020B0502040204020203" pitchFamily="34" charset="0"/>
                <a:cs typeface="Myanmar Text" panose="020B0502040204020203" pitchFamily="34" charset="0"/>
              </a:rPr>
              <a:t>Expense tracking is manual and time-consuming.</a:t>
            </a:r>
            <a:endParaRPr lang="en-US" altLang="en-US" dirty="0">
              <a:latin typeface="Myanmar Text" panose="020B0502040204020203" pitchFamily="34" charset="0"/>
              <a:cs typeface="Myanmar Text" panose="020B0502040204020203" pitchFamily="34" charset="0"/>
            </a:endParaRPr>
          </a:p>
          <a:p>
            <a:pPr marL="285750" indent="-285750" defTabSz="914400" eaLnBrk="0" fontAlgn="base" hangingPunct="0">
              <a:spcBef>
                <a:spcPct val="0"/>
              </a:spcBef>
              <a:spcAft>
                <a:spcPct val="0"/>
              </a:spcAft>
              <a:buFont typeface="Wingdings" panose="05000000000000000000" pitchFamily="2" charset="2"/>
              <a:buChar char="v"/>
            </a:pPr>
            <a:r>
              <a:rPr lang="en-US" altLang="en-US" dirty="0">
                <a:latin typeface="Myanmar Text" panose="020B0502040204020203" pitchFamily="34" charset="0"/>
                <a:cs typeface="Myanmar Text" panose="020B0502040204020203" pitchFamily="34" charset="0"/>
              </a:rPr>
              <a:t>Lack of clear visualization — users can’t spot trends.</a:t>
            </a:r>
          </a:p>
          <a:p>
            <a:pPr marL="285750" indent="-285750" defTabSz="914400" eaLnBrk="0" fontAlgn="base" hangingPunct="0">
              <a:spcBef>
                <a:spcPct val="0"/>
              </a:spcBef>
              <a:spcAft>
                <a:spcPct val="0"/>
              </a:spcAft>
              <a:buFont typeface="Wingdings" panose="05000000000000000000" pitchFamily="2" charset="2"/>
              <a:buChar char="v"/>
            </a:pPr>
            <a:r>
              <a:rPr lang="en-US" altLang="en-US" dirty="0">
                <a:latin typeface="Myanmar Text" panose="020B0502040204020203" pitchFamily="34" charset="0"/>
                <a:cs typeface="Myanmar Text" panose="020B0502040204020203" pitchFamily="34" charset="0"/>
              </a:rPr>
              <a:t>Hard to forecast future spending or plan budgets.</a:t>
            </a:r>
          </a:p>
          <a:p>
            <a:pPr marL="285750" indent="-285750" defTabSz="914400" eaLnBrk="0" fontAlgn="base" hangingPunct="0">
              <a:spcBef>
                <a:spcPct val="0"/>
              </a:spcBef>
              <a:spcAft>
                <a:spcPct val="0"/>
              </a:spcAft>
              <a:buFont typeface="Wingdings" panose="05000000000000000000" pitchFamily="2" charset="2"/>
              <a:buChar char="v"/>
            </a:pPr>
            <a:r>
              <a:rPr lang="en-US" altLang="en-US" dirty="0">
                <a:latin typeface="Myanmar Text" panose="020B0502040204020203" pitchFamily="34" charset="0"/>
                <a:cs typeface="Myanmar Text" panose="020B0502040204020203" pitchFamily="34" charset="0"/>
              </a:rPr>
              <a:t>Unnoticed anomalies (sudden spikes) lead to surprise shortfalls.</a:t>
            </a:r>
          </a:p>
        </p:txBody>
      </p:sp>
      <p:pic>
        <p:nvPicPr>
          <p:cNvPr id="10" name="Picture 9">
            <a:extLst>
              <a:ext uri="{FF2B5EF4-FFF2-40B4-BE49-F238E27FC236}">
                <a16:creationId xmlns:a16="http://schemas.microsoft.com/office/drawing/2014/main" id="{F505C73E-C28D-E731-4DBB-E957C4115EB2}"/>
              </a:ext>
            </a:extLst>
          </p:cNvPr>
          <p:cNvPicPr>
            <a:picLocks noChangeAspect="1"/>
          </p:cNvPicPr>
          <p:nvPr/>
        </p:nvPicPr>
        <p:blipFill>
          <a:blip r:embed="rId2"/>
          <a:stretch>
            <a:fillRect/>
          </a:stretch>
        </p:blipFill>
        <p:spPr>
          <a:xfrm>
            <a:off x="1293876" y="2227377"/>
            <a:ext cx="6103620" cy="4453993"/>
          </a:xfrm>
          <a:prstGeom prst="rect">
            <a:avLst/>
          </a:prstGeom>
        </p:spPr>
      </p:pic>
    </p:spTree>
    <p:extLst>
      <p:ext uri="{BB962C8B-B14F-4D97-AF65-F5344CB8AC3E}">
        <p14:creationId xmlns:p14="http://schemas.microsoft.com/office/powerpoint/2010/main" val="192096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31000" r="-3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OBJECTIVES</a:t>
            </a:r>
          </a:p>
        </p:txBody>
      </p:sp>
      <p:sp>
        <p:nvSpPr>
          <p:cNvPr id="5" name="TextBox 4">
            <a:extLst>
              <a:ext uri="{FF2B5EF4-FFF2-40B4-BE49-F238E27FC236}">
                <a16:creationId xmlns:a16="http://schemas.microsoft.com/office/drawing/2014/main" id="{CC559095-AD18-96A8-8896-D50B18A8ECEB}"/>
              </a:ext>
            </a:extLst>
          </p:cNvPr>
          <p:cNvSpPr txBox="1"/>
          <p:nvPr/>
        </p:nvSpPr>
        <p:spPr>
          <a:xfrm>
            <a:off x="342900" y="1559606"/>
            <a:ext cx="8458200" cy="4401205"/>
          </a:xfrm>
          <a:prstGeom prst="rect">
            <a:avLst/>
          </a:prstGeom>
          <a:noFill/>
        </p:spPr>
        <p:txBody>
          <a:bodyPr wrap="square">
            <a:spAutoFit/>
          </a:bodyPr>
          <a:lstStyle/>
          <a:p>
            <a:pPr>
              <a:buFont typeface="+mj-lt"/>
              <a:buAutoNum type="arabicPeriod"/>
            </a:pPr>
            <a:r>
              <a:rPr lang="en-US" sz="2000" b="1" dirty="0">
                <a:latin typeface="Century" panose="02040604050505020304" pitchFamily="18" charset="0"/>
              </a:rPr>
              <a:t>To develop</a:t>
            </a:r>
            <a:r>
              <a:rPr lang="en-US" sz="2000" dirty="0">
                <a:latin typeface="Century" panose="02040604050505020304" pitchFamily="18" charset="0"/>
              </a:rPr>
              <a:t> an intelligent system that tracks and analyzes user expenses automatically.</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apply machine learning algorithms</a:t>
            </a:r>
            <a:r>
              <a:rPr lang="en-US" sz="2000" dirty="0">
                <a:latin typeface="Century" panose="02040604050505020304" pitchFamily="18" charset="0"/>
              </a:rPr>
              <a:t> for accurate prediction of future spending trends.</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provide visual insights</a:t>
            </a:r>
            <a:r>
              <a:rPr lang="en-US" sz="2000" dirty="0">
                <a:latin typeface="Century" panose="02040604050505020304" pitchFamily="18" charset="0"/>
              </a:rPr>
              <a:t> through interactive charts and graphs for better financial understanding.</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assist users</a:t>
            </a:r>
            <a:r>
              <a:rPr lang="en-US" sz="2000" dirty="0">
                <a:latin typeface="Century" panose="02040604050505020304" pitchFamily="18" charset="0"/>
              </a:rPr>
              <a:t> in creating personalized budgets based on their income and spending behavior.</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dirty="0">
                <a:latin typeface="Century" panose="02040604050505020304" pitchFamily="18" charset="0"/>
              </a:rPr>
              <a:t>To promote financial awareness</a:t>
            </a:r>
            <a:r>
              <a:rPr lang="en-US" sz="2000" dirty="0">
                <a:latin typeface="Century" panose="02040604050505020304" pitchFamily="18" charset="0"/>
              </a:rPr>
              <a:t> and help users make informed and data-driven budgeting decisions.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696A44-A3F1-8BA7-2F2B-EEB79192B186}"/>
              </a:ext>
            </a:extLst>
          </p:cNvPr>
          <p:cNvSpPr txBox="1"/>
          <p:nvPr/>
        </p:nvSpPr>
        <p:spPr>
          <a:xfrm>
            <a:off x="2139696" y="296728"/>
            <a:ext cx="4572000"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TECH STACK</a:t>
            </a:r>
          </a:p>
        </p:txBody>
      </p:sp>
      <p:sp>
        <p:nvSpPr>
          <p:cNvPr id="5" name="TextBox 4">
            <a:extLst>
              <a:ext uri="{FF2B5EF4-FFF2-40B4-BE49-F238E27FC236}">
                <a16:creationId xmlns:a16="http://schemas.microsoft.com/office/drawing/2014/main" id="{9DADDDC4-1DAC-AE9E-64EF-F66F92BF6936}"/>
              </a:ext>
            </a:extLst>
          </p:cNvPr>
          <p:cNvSpPr txBox="1"/>
          <p:nvPr/>
        </p:nvSpPr>
        <p:spPr>
          <a:xfrm>
            <a:off x="82296" y="1051746"/>
            <a:ext cx="4343400" cy="1200329"/>
          </a:xfrm>
          <a:prstGeom prst="rect">
            <a:avLst/>
          </a:prstGeom>
          <a:noFill/>
        </p:spPr>
        <p:txBody>
          <a:bodyPr wrap="square">
            <a:spAutoFit/>
          </a:bodyPr>
          <a:lstStyle/>
          <a:p>
            <a:pPr marL="342900" indent="-342900">
              <a:buFont typeface="Wingdings" panose="05000000000000000000" pitchFamily="2" charset="2"/>
              <a:buChar char="§"/>
            </a:pPr>
            <a:r>
              <a:rPr lang="en-IN" b="1" dirty="0">
                <a:latin typeface="Myanmar Text" panose="020B0502040204020203" pitchFamily="34" charset="0"/>
                <a:cs typeface="Myanmar Text" panose="020B0502040204020203" pitchFamily="34" charset="0"/>
              </a:rPr>
              <a:t>Frontend:</a:t>
            </a:r>
            <a:r>
              <a:rPr lang="en-IN" dirty="0">
                <a:latin typeface="Myanmar Text" panose="020B0502040204020203" pitchFamily="34" charset="0"/>
                <a:cs typeface="Myanmar Text" panose="020B0502040204020203" pitchFamily="34" charset="0"/>
              </a:rPr>
              <a:t> React + Vite, Tailwind CSS, Framer Motion, Chart.js (for data visualization), Firebase SDK for auth / backend.</a:t>
            </a:r>
          </a:p>
        </p:txBody>
      </p:sp>
      <p:sp>
        <p:nvSpPr>
          <p:cNvPr id="7" name="TextBox 6">
            <a:extLst>
              <a:ext uri="{FF2B5EF4-FFF2-40B4-BE49-F238E27FC236}">
                <a16:creationId xmlns:a16="http://schemas.microsoft.com/office/drawing/2014/main" id="{AE12F127-225C-1D0F-9BA0-747086D7D166}"/>
              </a:ext>
            </a:extLst>
          </p:cNvPr>
          <p:cNvSpPr txBox="1"/>
          <p:nvPr/>
        </p:nvSpPr>
        <p:spPr>
          <a:xfrm>
            <a:off x="82296" y="2531835"/>
            <a:ext cx="4343400" cy="923330"/>
          </a:xfrm>
          <a:prstGeom prst="rect">
            <a:avLst/>
          </a:prstGeom>
          <a:noFill/>
        </p:spPr>
        <p:txBody>
          <a:bodyPr wrap="square">
            <a:spAutoFit/>
          </a:bodyPr>
          <a:lstStyle/>
          <a:p>
            <a:pPr marL="342900" indent="-342900">
              <a:buFont typeface="Wingdings" panose="05000000000000000000" pitchFamily="2" charset="2"/>
              <a:buChar char="§"/>
            </a:pPr>
            <a:r>
              <a:rPr lang="en-IN" b="1" dirty="0">
                <a:latin typeface="Myanmar Text" panose="020B0502040204020203" pitchFamily="34" charset="0"/>
                <a:cs typeface="Myanmar Text" panose="020B0502040204020203" pitchFamily="34" charset="0"/>
              </a:rPr>
              <a:t>Backend:</a:t>
            </a:r>
            <a:r>
              <a:rPr lang="en-IN" dirty="0">
                <a:latin typeface="Myanmar Text" panose="020B0502040204020203" pitchFamily="34" charset="0"/>
                <a:cs typeface="Myanmar Text" panose="020B0502040204020203" pitchFamily="34" charset="0"/>
              </a:rPr>
              <a:t> Python + </a:t>
            </a:r>
            <a:r>
              <a:rPr lang="en-IN" dirty="0" err="1">
                <a:latin typeface="Myanmar Text" panose="020B0502040204020203" pitchFamily="34" charset="0"/>
                <a:cs typeface="Myanmar Text" panose="020B0502040204020203" pitchFamily="34" charset="0"/>
              </a:rPr>
              <a:t>FastAPI</a:t>
            </a:r>
            <a:r>
              <a:rPr lang="en-IN" dirty="0">
                <a:latin typeface="Myanmar Text" panose="020B0502040204020203" pitchFamily="34" charset="0"/>
                <a:cs typeface="Myanmar Text" panose="020B0502040204020203" pitchFamily="34" charset="0"/>
              </a:rPr>
              <a:t> for API server, Firebase Admin SDK for </a:t>
            </a:r>
            <a:r>
              <a:rPr lang="en-IN" dirty="0" err="1">
                <a:latin typeface="Myanmar Text" panose="020B0502040204020203" pitchFamily="34" charset="0"/>
                <a:cs typeface="Myanmar Text" panose="020B0502040204020203" pitchFamily="34" charset="0"/>
              </a:rPr>
              <a:t>Firestore</a:t>
            </a:r>
            <a:r>
              <a:rPr lang="en-IN" dirty="0">
                <a:latin typeface="Myanmar Text" panose="020B0502040204020203" pitchFamily="34" charset="0"/>
                <a:cs typeface="Myanmar Text" panose="020B0502040204020203" pitchFamily="34" charset="0"/>
              </a:rPr>
              <a:t> / Authentication integration. </a:t>
            </a:r>
          </a:p>
        </p:txBody>
      </p:sp>
      <p:sp>
        <p:nvSpPr>
          <p:cNvPr id="9" name="TextBox 8">
            <a:extLst>
              <a:ext uri="{FF2B5EF4-FFF2-40B4-BE49-F238E27FC236}">
                <a16:creationId xmlns:a16="http://schemas.microsoft.com/office/drawing/2014/main" id="{324A0AEE-7675-2D71-D061-DAAE47335BAD}"/>
              </a:ext>
            </a:extLst>
          </p:cNvPr>
          <p:cNvSpPr txBox="1"/>
          <p:nvPr/>
        </p:nvSpPr>
        <p:spPr>
          <a:xfrm>
            <a:off x="82296" y="3899431"/>
            <a:ext cx="4343400" cy="1477328"/>
          </a:xfrm>
          <a:prstGeom prst="rect">
            <a:avLst/>
          </a:prstGeom>
          <a:noFill/>
        </p:spPr>
        <p:txBody>
          <a:bodyPr wrap="square">
            <a:spAutoFit/>
          </a:bodyPr>
          <a:lstStyle/>
          <a:p>
            <a:pPr marL="342900" indent="-342900">
              <a:buFont typeface="Wingdings" panose="05000000000000000000" pitchFamily="2" charset="2"/>
              <a:buChar char="§"/>
            </a:pPr>
            <a:r>
              <a:rPr lang="en-US" b="1" dirty="0">
                <a:latin typeface="Myanmar Text" panose="020B0502040204020203" pitchFamily="34" charset="0"/>
                <a:cs typeface="Myanmar Text" panose="020B0502040204020203" pitchFamily="34" charset="0"/>
              </a:rPr>
              <a:t>Data &amp; ML:</a:t>
            </a:r>
            <a:r>
              <a:rPr lang="en-US" dirty="0">
                <a:latin typeface="Myanmar Text" panose="020B0502040204020203" pitchFamily="34" charset="0"/>
                <a:cs typeface="Myanmar Text" panose="020B0502040204020203" pitchFamily="34" charset="0"/>
              </a:rPr>
              <a:t> Uses scikit-learn for building ML models (Random Forest) for expense prediction &amp; anomaly detection; uses Pandas &amp; NumPy for data processing</a:t>
            </a:r>
            <a:endParaRPr lang="en-IN" dirty="0">
              <a:latin typeface="Myanmar Text" panose="020B0502040204020203" pitchFamily="34" charset="0"/>
              <a:cs typeface="Myanmar Text" panose="020B0502040204020203" pitchFamily="34" charset="0"/>
            </a:endParaRPr>
          </a:p>
        </p:txBody>
      </p:sp>
      <p:sp>
        <p:nvSpPr>
          <p:cNvPr id="11" name="TextBox 10">
            <a:extLst>
              <a:ext uri="{FF2B5EF4-FFF2-40B4-BE49-F238E27FC236}">
                <a16:creationId xmlns:a16="http://schemas.microsoft.com/office/drawing/2014/main" id="{244B7389-2D91-4BF7-5AEC-F88D5DECB07D}"/>
              </a:ext>
            </a:extLst>
          </p:cNvPr>
          <p:cNvSpPr txBox="1"/>
          <p:nvPr/>
        </p:nvSpPr>
        <p:spPr>
          <a:xfrm>
            <a:off x="82296" y="5643786"/>
            <a:ext cx="4343400" cy="369332"/>
          </a:xfrm>
          <a:prstGeom prst="rect">
            <a:avLst/>
          </a:prstGeom>
          <a:noFill/>
        </p:spPr>
        <p:txBody>
          <a:bodyPr wrap="square">
            <a:spAutoFit/>
          </a:bodyPr>
          <a:lstStyle/>
          <a:p>
            <a:pPr marL="342900" indent="-342900">
              <a:buFont typeface="Wingdings" panose="05000000000000000000" pitchFamily="2" charset="2"/>
              <a:buChar char="§"/>
            </a:pPr>
            <a:r>
              <a:rPr lang="en-IN" b="1" dirty="0">
                <a:latin typeface="Myanmar Text" panose="020B0502040204020203" pitchFamily="34" charset="0"/>
                <a:cs typeface="Myanmar Text" panose="020B0502040204020203" pitchFamily="34" charset="0"/>
              </a:rPr>
              <a:t>Server:</a:t>
            </a:r>
            <a:r>
              <a:rPr lang="en-IN" dirty="0">
                <a:latin typeface="Myanmar Text" panose="020B0502040204020203" pitchFamily="34" charset="0"/>
                <a:cs typeface="Myanmar Text" panose="020B0502040204020203" pitchFamily="34" charset="0"/>
              </a:rPr>
              <a:t> Run via </a:t>
            </a:r>
            <a:r>
              <a:rPr lang="en-IN" dirty="0" err="1">
                <a:latin typeface="Myanmar Text" panose="020B0502040204020203" pitchFamily="34" charset="0"/>
                <a:cs typeface="Myanmar Text" panose="020B0502040204020203" pitchFamily="34" charset="0"/>
              </a:rPr>
              <a:t>Uvicorn</a:t>
            </a:r>
            <a:r>
              <a:rPr lang="en-IN" dirty="0">
                <a:latin typeface="Myanmar Text" panose="020B0502040204020203" pitchFamily="34" charset="0"/>
                <a:cs typeface="Myanmar Text" panose="020B0502040204020203" pitchFamily="34" charset="0"/>
              </a:rPr>
              <a:t> ASGI server.</a:t>
            </a:r>
          </a:p>
        </p:txBody>
      </p:sp>
      <p:pic>
        <p:nvPicPr>
          <p:cNvPr id="13" name="Picture 12">
            <a:extLst>
              <a:ext uri="{FF2B5EF4-FFF2-40B4-BE49-F238E27FC236}">
                <a16:creationId xmlns:a16="http://schemas.microsoft.com/office/drawing/2014/main" id="{79FA10B5-15B1-03D2-3867-49F3B63BE700}"/>
              </a:ext>
            </a:extLst>
          </p:cNvPr>
          <p:cNvPicPr>
            <a:picLocks noChangeAspect="1"/>
          </p:cNvPicPr>
          <p:nvPr/>
        </p:nvPicPr>
        <p:blipFill>
          <a:blip r:embed="rId2"/>
          <a:stretch>
            <a:fillRect/>
          </a:stretch>
        </p:blipFill>
        <p:spPr>
          <a:xfrm>
            <a:off x="4352544" y="1051746"/>
            <a:ext cx="4791456" cy="5110260"/>
          </a:xfrm>
          <a:prstGeom prst="rect">
            <a:avLst/>
          </a:prstGeom>
        </p:spPr>
      </p:pic>
    </p:spTree>
    <p:extLst>
      <p:ext uri="{BB962C8B-B14F-4D97-AF65-F5344CB8AC3E}">
        <p14:creationId xmlns:p14="http://schemas.microsoft.com/office/powerpoint/2010/main" val="350464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5000" r="-25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MODULES</a:t>
            </a:r>
          </a:p>
        </p:txBody>
      </p:sp>
      <p:sp>
        <p:nvSpPr>
          <p:cNvPr id="6" name="Rectangle 1">
            <a:extLst>
              <a:ext uri="{FF2B5EF4-FFF2-40B4-BE49-F238E27FC236}">
                <a16:creationId xmlns:a16="http://schemas.microsoft.com/office/drawing/2014/main" id="{79B5F9CA-865E-3B63-49C6-CD1B6290914C}"/>
              </a:ext>
            </a:extLst>
          </p:cNvPr>
          <p:cNvSpPr>
            <a:spLocks noChangeArrowheads="1"/>
          </p:cNvSpPr>
          <p:nvPr/>
        </p:nvSpPr>
        <p:spPr bwMode="auto">
          <a:xfrm rot="10800000" flipV="1">
            <a:off x="256032" y="1654486"/>
            <a:ext cx="8339328"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entury" panose="02040604050505020304" pitchFamily="18" charset="0"/>
              </a:rPr>
              <a:t>User Login:</a:t>
            </a:r>
            <a:br>
              <a:rPr kumimoji="0" lang="en-US" altLang="en-US" sz="2000" b="0" i="0" u="none" strike="noStrike" cap="none" normalizeH="0" baseline="0" dirty="0">
                <a:ln>
                  <a:noFill/>
                </a:ln>
                <a:solidFill>
                  <a:schemeClr val="tx1"/>
                </a:solidFill>
                <a:effectLst/>
                <a:latin typeface="Century" panose="02040604050505020304" pitchFamily="18" charset="0"/>
              </a:rPr>
            </a:br>
            <a:r>
              <a:rPr kumimoji="0" lang="en-US" altLang="en-US" sz="2000" b="0" i="0" u="none" strike="noStrike" cap="none" normalizeH="0" baseline="0" dirty="0">
                <a:ln>
                  <a:noFill/>
                </a:ln>
                <a:solidFill>
                  <a:schemeClr val="tx1"/>
                </a:solidFill>
                <a:effectLst/>
                <a:latin typeface="Century" panose="02040604050505020304" pitchFamily="18" charset="0"/>
              </a:rPr>
              <a:t>Allows users to securely register and log in to access personalized expense data and forecasts.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099CC37A-41E1-F717-2B05-147F8A7B53C9}"/>
              </a:ext>
            </a:extLst>
          </p:cNvPr>
          <p:cNvSpPr>
            <a:spLocks noChangeArrowheads="1"/>
          </p:cNvSpPr>
          <p:nvPr/>
        </p:nvSpPr>
        <p:spPr bwMode="auto">
          <a:xfrm>
            <a:off x="256032" y="2947148"/>
            <a:ext cx="888796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entury" panose="02040604050505020304" pitchFamily="18" charset="0"/>
              </a:rPr>
              <a:t>Expense Entry:</a:t>
            </a:r>
            <a:br>
              <a:rPr kumimoji="0" lang="en-US" altLang="en-US" sz="2000" b="0" i="0" u="none" strike="noStrike" cap="none" normalizeH="0" baseline="0" dirty="0">
                <a:ln>
                  <a:noFill/>
                </a:ln>
                <a:solidFill>
                  <a:schemeClr val="tx1"/>
                </a:solidFill>
                <a:effectLst/>
                <a:latin typeface="Century" panose="02040604050505020304" pitchFamily="18" charset="0"/>
              </a:rPr>
            </a:br>
            <a:r>
              <a:rPr kumimoji="0" lang="en-US" altLang="en-US" sz="2000" b="0" i="0" u="none" strike="noStrike" cap="none" normalizeH="0" baseline="0" dirty="0">
                <a:ln>
                  <a:noFill/>
                </a:ln>
                <a:solidFill>
                  <a:schemeClr val="tx1"/>
                </a:solidFill>
                <a:effectLst/>
                <a:latin typeface="Century" panose="02040604050505020304" pitchFamily="18" charset="0"/>
              </a:rPr>
              <a:t>Enables users to input and categorize daily expenses, forming the basis for analysis and forecasting.</a:t>
            </a:r>
          </a:p>
          <a:p>
            <a:pPr marL="0" marR="0" lvl="0" indent="0" algn="l" defTabSz="914400" rtl="0" eaLnBrk="0" fontAlgn="base" latinLnBrk="0" hangingPunct="0">
              <a:lnSpc>
                <a:spcPct val="100000"/>
              </a:lnSpc>
              <a:spcBef>
                <a:spcPct val="0"/>
              </a:spcBef>
              <a:spcAft>
                <a:spcPct val="0"/>
              </a:spcAft>
              <a:buClrTx/>
              <a:buSzTx/>
              <a:tabLst/>
            </a:pP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B6ED6465-F566-3FF4-FC83-FF82FFE1DD29}"/>
              </a:ext>
            </a:extLst>
          </p:cNvPr>
          <p:cNvSpPr>
            <a:spLocks noChangeArrowheads="1"/>
          </p:cNvSpPr>
          <p:nvPr/>
        </p:nvSpPr>
        <p:spPr bwMode="auto">
          <a:xfrm>
            <a:off x="256032" y="4205569"/>
            <a:ext cx="898855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entury" panose="02040604050505020304" pitchFamily="18" charset="0"/>
              </a:rPr>
              <a:t>Expense Analysis:</a:t>
            </a:r>
            <a:br>
              <a:rPr kumimoji="0" lang="en-US" altLang="en-US" sz="2000" b="0" i="0" u="none" strike="noStrike" cap="none" normalizeH="0" baseline="0" dirty="0">
                <a:ln>
                  <a:noFill/>
                </a:ln>
                <a:solidFill>
                  <a:schemeClr val="tx1"/>
                </a:solidFill>
                <a:effectLst/>
                <a:latin typeface="Century" panose="02040604050505020304" pitchFamily="18" charset="0"/>
              </a:rPr>
            </a:br>
            <a:r>
              <a:rPr kumimoji="0" lang="en-US" altLang="en-US" sz="2000" b="0" i="0" u="none" strike="noStrike" cap="none" normalizeH="0" baseline="0" dirty="0">
                <a:ln>
                  <a:noFill/>
                </a:ln>
                <a:solidFill>
                  <a:schemeClr val="tx1"/>
                </a:solidFill>
                <a:effectLst/>
                <a:latin typeface="Century" panose="02040604050505020304" pitchFamily="18" charset="0"/>
              </a:rPr>
              <a:t>Analyzes spending habits through visual reports, helping users identify major expense areas and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Century" panose="020406040505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l="-25000" r="-25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0AE9A4-203E-704C-732B-682BEF953F14}"/>
              </a:ext>
            </a:extLst>
          </p:cNvPr>
          <p:cNvSpPr txBox="1"/>
          <p:nvPr/>
        </p:nvSpPr>
        <p:spPr>
          <a:xfrm>
            <a:off x="160020" y="1254496"/>
            <a:ext cx="8823960" cy="3785652"/>
          </a:xfrm>
          <a:prstGeom prst="rect">
            <a:avLst/>
          </a:prstGeom>
          <a:noFill/>
        </p:spPr>
        <p:txBody>
          <a:bodyPr wrap="square">
            <a:spAutoFit/>
          </a:bodyPr>
          <a:lstStyle/>
          <a:p>
            <a:pPr marL="342900" indent="-342900">
              <a:buFont typeface="Arial" panose="020B0604020202020204" pitchFamily="34" charset="0"/>
              <a:buChar char="•"/>
            </a:pPr>
            <a:r>
              <a:rPr lang="en-US" sz="2000" b="1" dirty="0">
                <a:latin typeface="Century" panose="02040604050505020304" pitchFamily="18" charset="0"/>
              </a:rPr>
              <a:t>AI Forecasting:</a:t>
            </a:r>
            <a:br>
              <a:rPr lang="en-US" sz="2000" dirty="0">
                <a:latin typeface="Century" panose="02040604050505020304" pitchFamily="18" charset="0"/>
              </a:rPr>
            </a:br>
            <a:r>
              <a:rPr lang="en-US" sz="2000" dirty="0">
                <a:latin typeface="Century" panose="02040604050505020304" pitchFamily="18" charset="0"/>
              </a:rPr>
              <a:t>Utilizes machine learning algorithms to predict future expenses based on historical data patterns.</a:t>
            </a:r>
          </a:p>
          <a:p>
            <a:endParaRPr lang="en-US" sz="2000" dirty="0">
              <a:latin typeface="Century" panose="02040604050505020304" pitchFamily="18" charset="0"/>
            </a:endParaRPr>
          </a:p>
          <a:p>
            <a:pPr marL="342900" indent="-342900">
              <a:buFont typeface="Arial" panose="020B0604020202020204" pitchFamily="34" charset="0"/>
              <a:buChar char="•"/>
            </a:pPr>
            <a:r>
              <a:rPr lang="en-US" sz="2000" b="1" dirty="0">
                <a:latin typeface="Century" panose="02040604050505020304" pitchFamily="18" charset="0"/>
              </a:rPr>
              <a:t>Budget Recommendations:</a:t>
            </a:r>
            <a:br>
              <a:rPr lang="en-US" sz="2000" dirty="0">
                <a:latin typeface="Century" panose="02040604050505020304" pitchFamily="18" charset="0"/>
              </a:rPr>
            </a:br>
            <a:r>
              <a:rPr lang="en-US" sz="2000" dirty="0">
                <a:latin typeface="Century" panose="02040604050505020304" pitchFamily="18" charset="0"/>
              </a:rPr>
              <a:t>Provides smart, personalized budgeting suggestions to help users control overspending and save efficiently.</a:t>
            </a:r>
          </a:p>
          <a:p>
            <a:pPr>
              <a:buFont typeface="+mj-lt"/>
              <a:buAutoNum type="arabicPeriod"/>
            </a:pPr>
            <a:endParaRPr lang="en-US" sz="2000" dirty="0">
              <a:latin typeface="Century" panose="02040604050505020304" pitchFamily="18" charset="0"/>
            </a:endParaRPr>
          </a:p>
          <a:p>
            <a:pPr marL="342900" indent="-342900">
              <a:buFont typeface="Arial" panose="020B0604020202020204" pitchFamily="34" charset="0"/>
              <a:buChar char="•"/>
            </a:pPr>
            <a:r>
              <a:rPr lang="en-US" sz="2000" b="1" dirty="0">
                <a:latin typeface="Century" panose="02040604050505020304" pitchFamily="18" charset="0"/>
              </a:rPr>
              <a:t>Report Generation:</a:t>
            </a:r>
            <a:br>
              <a:rPr lang="en-US" sz="2000" dirty="0">
                <a:latin typeface="Century" panose="02040604050505020304" pitchFamily="18" charset="0"/>
              </a:rPr>
            </a:br>
            <a:r>
              <a:rPr lang="en-US" sz="2000" dirty="0">
                <a:latin typeface="Century" panose="02040604050505020304" pitchFamily="18" charset="0"/>
              </a:rPr>
              <a:t>Generates detailed monthly or yearly reports summarizing spending, forecasts, and budget insights.</a:t>
            </a:r>
          </a:p>
          <a:p>
            <a:pPr>
              <a:buFont typeface="+mj-lt"/>
              <a:buAutoNum type="arabicPeriod"/>
            </a:pPr>
            <a:endParaRPr lang="en-US" sz="2000" dirty="0">
              <a:latin typeface="Century" panose="02040604050505020304" pitchFamily="18" charset="0"/>
            </a:endParaRPr>
          </a:p>
        </p:txBody>
      </p:sp>
    </p:spTree>
    <p:extLst>
      <p:ext uri="{BB962C8B-B14F-4D97-AF65-F5344CB8AC3E}">
        <p14:creationId xmlns:p14="http://schemas.microsoft.com/office/powerpoint/2010/main" val="1473472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9EA43B-2920-B2CC-C19E-979EA5F617BF}"/>
              </a:ext>
            </a:extLst>
          </p:cNvPr>
          <p:cNvSpPr txBox="1"/>
          <p:nvPr/>
        </p:nvSpPr>
        <p:spPr>
          <a:xfrm>
            <a:off x="1920240" y="382262"/>
            <a:ext cx="6163056"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KEY FEATURES OF BUDGETWISE</a:t>
            </a:r>
          </a:p>
        </p:txBody>
      </p:sp>
      <p:pic>
        <p:nvPicPr>
          <p:cNvPr id="5" name="Picture 4">
            <a:extLst>
              <a:ext uri="{FF2B5EF4-FFF2-40B4-BE49-F238E27FC236}">
                <a16:creationId xmlns:a16="http://schemas.microsoft.com/office/drawing/2014/main" id="{A3B9EE31-7A48-DAE7-6221-AC8CE2960D1C}"/>
              </a:ext>
            </a:extLst>
          </p:cNvPr>
          <p:cNvPicPr>
            <a:picLocks noChangeAspect="1"/>
          </p:cNvPicPr>
          <p:nvPr/>
        </p:nvPicPr>
        <p:blipFill>
          <a:blip r:embed="rId2"/>
          <a:srcRect l="24509" r="30599"/>
          <a:stretch>
            <a:fillRect/>
          </a:stretch>
        </p:blipFill>
        <p:spPr>
          <a:xfrm>
            <a:off x="201168" y="1417320"/>
            <a:ext cx="3922776" cy="5283070"/>
          </a:xfrm>
          <a:prstGeom prst="rect">
            <a:avLst/>
          </a:prstGeom>
        </p:spPr>
      </p:pic>
      <p:pic>
        <p:nvPicPr>
          <p:cNvPr id="7" name="Picture 6">
            <a:extLst>
              <a:ext uri="{FF2B5EF4-FFF2-40B4-BE49-F238E27FC236}">
                <a16:creationId xmlns:a16="http://schemas.microsoft.com/office/drawing/2014/main" id="{0408C20C-8C75-8793-20DC-CB2CD3A986BC}"/>
              </a:ext>
            </a:extLst>
          </p:cNvPr>
          <p:cNvPicPr>
            <a:picLocks noChangeAspect="1"/>
          </p:cNvPicPr>
          <p:nvPr/>
        </p:nvPicPr>
        <p:blipFill>
          <a:blip r:embed="rId3"/>
          <a:srcRect l="8395" r="20318"/>
          <a:stretch>
            <a:fillRect/>
          </a:stretch>
        </p:blipFill>
        <p:spPr>
          <a:xfrm>
            <a:off x="4422535" y="2194509"/>
            <a:ext cx="4520297" cy="4208077"/>
          </a:xfrm>
          <a:prstGeom prst="rect">
            <a:avLst/>
          </a:prstGeom>
        </p:spPr>
      </p:pic>
      <p:sp>
        <p:nvSpPr>
          <p:cNvPr id="8" name="TextBox 7">
            <a:extLst>
              <a:ext uri="{FF2B5EF4-FFF2-40B4-BE49-F238E27FC236}">
                <a16:creationId xmlns:a16="http://schemas.microsoft.com/office/drawing/2014/main" id="{2033DB7D-64C7-00E0-19B6-5DC00BE55A66}"/>
              </a:ext>
            </a:extLst>
          </p:cNvPr>
          <p:cNvSpPr txBox="1"/>
          <p:nvPr/>
        </p:nvSpPr>
        <p:spPr>
          <a:xfrm>
            <a:off x="4572000" y="1426464"/>
            <a:ext cx="2965817" cy="43088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LOGIN PAGE</a:t>
            </a:r>
          </a:p>
        </p:txBody>
      </p:sp>
    </p:spTree>
    <p:extLst>
      <p:ext uri="{BB962C8B-B14F-4D97-AF65-F5344CB8AC3E}">
        <p14:creationId xmlns:p14="http://schemas.microsoft.com/office/powerpoint/2010/main" val="443558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34B8ED-F022-506A-A53B-5A7609C2C1B1}"/>
              </a:ext>
            </a:extLst>
          </p:cNvPr>
          <p:cNvSpPr txBox="1"/>
          <p:nvPr/>
        </p:nvSpPr>
        <p:spPr>
          <a:xfrm>
            <a:off x="2935224" y="1398618"/>
            <a:ext cx="4572000" cy="400110"/>
          </a:xfrm>
          <a:prstGeom prst="rect">
            <a:avLst/>
          </a:prstGeom>
          <a:noFill/>
        </p:spPr>
        <p:txBody>
          <a:bodyPr wrap="square">
            <a:spAutoFit/>
          </a:bodyPr>
          <a:lstStyle/>
          <a:p>
            <a:r>
              <a:rPr lang="en-IN" sz="2000" b="1" dirty="0">
                <a:latin typeface="Constantia" panose="02030602050306030303" pitchFamily="18" charset="0"/>
              </a:rPr>
              <a:t>Dashboard Overview</a:t>
            </a:r>
          </a:p>
        </p:txBody>
      </p:sp>
      <p:pic>
        <p:nvPicPr>
          <p:cNvPr id="7" name="Picture 6">
            <a:extLst>
              <a:ext uri="{FF2B5EF4-FFF2-40B4-BE49-F238E27FC236}">
                <a16:creationId xmlns:a16="http://schemas.microsoft.com/office/drawing/2014/main" id="{4C4529F9-CF5B-F24D-DCBE-A4982D441E9C}"/>
              </a:ext>
            </a:extLst>
          </p:cNvPr>
          <p:cNvPicPr>
            <a:picLocks noChangeAspect="1"/>
          </p:cNvPicPr>
          <p:nvPr/>
        </p:nvPicPr>
        <p:blipFill>
          <a:blip r:embed="rId2"/>
          <a:stretch>
            <a:fillRect/>
          </a:stretch>
        </p:blipFill>
        <p:spPr>
          <a:xfrm>
            <a:off x="347472" y="2126660"/>
            <a:ext cx="8421237" cy="3963244"/>
          </a:xfrm>
          <a:prstGeom prst="rect">
            <a:avLst/>
          </a:prstGeom>
        </p:spPr>
      </p:pic>
      <p:pic>
        <p:nvPicPr>
          <p:cNvPr id="9" name="Graphic 8" descr="Bar graph with upward trend with solid fill">
            <a:extLst>
              <a:ext uri="{FF2B5EF4-FFF2-40B4-BE49-F238E27FC236}">
                <a16:creationId xmlns:a16="http://schemas.microsoft.com/office/drawing/2014/main" id="{AAF61E9C-198B-2E7E-DFF0-6A259974AB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41848" y="1365708"/>
            <a:ext cx="457200" cy="457200"/>
          </a:xfrm>
          <a:prstGeom prst="rect">
            <a:avLst/>
          </a:prstGeom>
        </p:spPr>
      </p:pic>
    </p:spTree>
    <p:extLst>
      <p:ext uri="{BB962C8B-B14F-4D97-AF65-F5344CB8AC3E}">
        <p14:creationId xmlns:p14="http://schemas.microsoft.com/office/powerpoint/2010/main" val="1999301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66F162A-E63C-478D-40ED-2253BCB79F53}"/>
              </a:ext>
            </a:extLst>
          </p:cNvPr>
          <p:cNvSpPr txBox="1"/>
          <p:nvPr/>
        </p:nvSpPr>
        <p:spPr>
          <a:xfrm>
            <a:off x="2843784" y="1134874"/>
            <a:ext cx="4572000" cy="477054"/>
          </a:xfrm>
          <a:prstGeom prst="rect">
            <a:avLst/>
          </a:prstGeom>
          <a:noFill/>
        </p:spPr>
        <p:txBody>
          <a:bodyPr wrap="square">
            <a:spAutoFit/>
          </a:bodyPr>
          <a:lstStyle/>
          <a:p>
            <a:r>
              <a:rPr lang="en-IN" sz="2500" dirty="0">
                <a:latin typeface="Constantia" panose="02030602050306030303" pitchFamily="18" charset="0"/>
              </a:rPr>
              <a:t>Expense Tracking</a:t>
            </a:r>
          </a:p>
        </p:txBody>
      </p:sp>
      <p:pic>
        <p:nvPicPr>
          <p:cNvPr id="5" name="Picture 4">
            <a:extLst>
              <a:ext uri="{FF2B5EF4-FFF2-40B4-BE49-F238E27FC236}">
                <a16:creationId xmlns:a16="http://schemas.microsoft.com/office/drawing/2014/main" id="{08FACDC6-AC5A-1CC1-59D4-B8DA5E4E7877}"/>
              </a:ext>
            </a:extLst>
          </p:cNvPr>
          <p:cNvPicPr>
            <a:picLocks noChangeAspect="1"/>
          </p:cNvPicPr>
          <p:nvPr/>
        </p:nvPicPr>
        <p:blipFill>
          <a:blip r:embed="rId2"/>
          <a:stretch>
            <a:fillRect/>
          </a:stretch>
        </p:blipFill>
        <p:spPr>
          <a:xfrm>
            <a:off x="265176" y="2088923"/>
            <a:ext cx="8613648" cy="3999963"/>
          </a:xfrm>
          <a:prstGeom prst="rect">
            <a:avLst/>
          </a:prstGeom>
        </p:spPr>
      </p:pic>
      <p:pic>
        <p:nvPicPr>
          <p:cNvPr id="7" name="Graphic 6" descr="Money with solid fill">
            <a:extLst>
              <a:ext uri="{FF2B5EF4-FFF2-40B4-BE49-F238E27FC236}">
                <a16:creationId xmlns:a16="http://schemas.microsoft.com/office/drawing/2014/main" id="{01EFE929-F39D-8C59-6E82-7DD2EDCCF3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13832" y="1081576"/>
            <a:ext cx="530352" cy="530352"/>
          </a:xfrm>
          <a:prstGeom prst="rect">
            <a:avLst/>
          </a:prstGeom>
        </p:spPr>
      </p:pic>
    </p:spTree>
    <p:extLst>
      <p:ext uri="{BB962C8B-B14F-4D97-AF65-F5344CB8AC3E}">
        <p14:creationId xmlns:p14="http://schemas.microsoft.com/office/powerpoint/2010/main" val="7961321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43BEF3-56A8-858A-3665-7950C43240D2}"/>
              </a:ext>
            </a:extLst>
          </p:cNvPr>
          <p:cNvSpPr txBox="1"/>
          <p:nvPr/>
        </p:nvSpPr>
        <p:spPr>
          <a:xfrm>
            <a:off x="2807208" y="226539"/>
            <a:ext cx="4572000" cy="477054"/>
          </a:xfrm>
          <a:prstGeom prst="rect">
            <a:avLst/>
          </a:prstGeom>
          <a:noFill/>
        </p:spPr>
        <p:txBody>
          <a:bodyPr wrap="square">
            <a:spAutoFit/>
          </a:bodyPr>
          <a:lstStyle/>
          <a:p>
            <a:r>
              <a:rPr lang="en-IN" sz="2500" b="1" dirty="0">
                <a:latin typeface="Constantia" panose="02030602050306030303" pitchFamily="18" charset="0"/>
              </a:rPr>
              <a:t>Smart Budgeting</a:t>
            </a:r>
          </a:p>
        </p:txBody>
      </p:sp>
      <p:pic>
        <p:nvPicPr>
          <p:cNvPr id="5" name="Picture 4">
            <a:extLst>
              <a:ext uri="{FF2B5EF4-FFF2-40B4-BE49-F238E27FC236}">
                <a16:creationId xmlns:a16="http://schemas.microsoft.com/office/drawing/2014/main" id="{1BD2E866-DE7D-B143-2832-D487DB162248}"/>
              </a:ext>
            </a:extLst>
          </p:cNvPr>
          <p:cNvPicPr>
            <a:picLocks noChangeAspect="1"/>
          </p:cNvPicPr>
          <p:nvPr/>
        </p:nvPicPr>
        <p:blipFill>
          <a:blip r:embed="rId2"/>
          <a:srcRect b="37510"/>
          <a:stretch>
            <a:fillRect/>
          </a:stretch>
        </p:blipFill>
        <p:spPr>
          <a:xfrm>
            <a:off x="228600" y="891243"/>
            <a:ext cx="8485632" cy="265347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7" name="Picture 6">
            <a:extLst>
              <a:ext uri="{FF2B5EF4-FFF2-40B4-BE49-F238E27FC236}">
                <a16:creationId xmlns:a16="http://schemas.microsoft.com/office/drawing/2014/main" id="{1EF3E2D1-4060-8BB6-E8E8-9978FA3A5C70}"/>
              </a:ext>
            </a:extLst>
          </p:cNvPr>
          <p:cNvPicPr>
            <a:picLocks noChangeAspect="1"/>
          </p:cNvPicPr>
          <p:nvPr/>
        </p:nvPicPr>
        <p:blipFill>
          <a:blip r:embed="rId3"/>
          <a:srcRect b="31542"/>
          <a:stretch>
            <a:fillRect/>
          </a:stretch>
        </p:blipFill>
        <p:spPr>
          <a:xfrm>
            <a:off x="228600" y="3920019"/>
            <a:ext cx="8659368" cy="274543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9" name="Graphic 8" descr="Head with gears with solid fill">
            <a:extLst>
              <a:ext uri="{FF2B5EF4-FFF2-40B4-BE49-F238E27FC236}">
                <a16:creationId xmlns:a16="http://schemas.microsoft.com/office/drawing/2014/main" id="{B4E02CB2-9FEF-FA1C-B456-F842CCDCD5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31536" y="280387"/>
            <a:ext cx="457200" cy="457200"/>
          </a:xfrm>
          <a:prstGeom prst="rect">
            <a:avLst/>
          </a:prstGeom>
        </p:spPr>
      </p:pic>
    </p:spTree>
    <p:extLst>
      <p:ext uri="{BB962C8B-B14F-4D97-AF65-F5344CB8AC3E}">
        <p14:creationId xmlns:p14="http://schemas.microsoft.com/office/powerpoint/2010/main" val="2136158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8A9C7-B89E-671F-3CCE-31E05298B348}"/>
              </a:ext>
            </a:extLst>
          </p:cNvPr>
          <p:cNvSpPr txBox="1"/>
          <p:nvPr/>
        </p:nvSpPr>
        <p:spPr>
          <a:xfrm>
            <a:off x="2990088" y="860468"/>
            <a:ext cx="4572000"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Visual Analytics</a:t>
            </a:r>
          </a:p>
        </p:txBody>
      </p:sp>
      <p:pic>
        <p:nvPicPr>
          <p:cNvPr id="5" name="Picture 4">
            <a:extLst>
              <a:ext uri="{FF2B5EF4-FFF2-40B4-BE49-F238E27FC236}">
                <a16:creationId xmlns:a16="http://schemas.microsoft.com/office/drawing/2014/main" id="{FD9858AB-7AAC-FF23-26F3-C37495C0DD60}"/>
              </a:ext>
            </a:extLst>
          </p:cNvPr>
          <p:cNvPicPr>
            <a:picLocks noChangeAspect="1"/>
          </p:cNvPicPr>
          <p:nvPr/>
        </p:nvPicPr>
        <p:blipFill>
          <a:blip r:embed="rId2"/>
          <a:stretch>
            <a:fillRect/>
          </a:stretch>
        </p:blipFill>
        <p:spPr>
          <a:xfrm>
            <a:off x="224187" y="1536192"/>
            <a:ext cx="8695625" cy="4222813"/>
          </a:xfrm>
          <a:prstGeom prst="rect">
            <a:avLst/>
          </a:prstGeom>
        </p:spPr>
      </p:pic>
      <p:pic>
        <p:nvPicPr>
          <p:cNvPr id="7" name="Graphic 6" descr="Eye with solid fill">
            <a:extLst>
              <a:ext uri="{FF2B5EF4-FFF2-40B4-BE49-F238E27FC236}">
                <a16:creationId xmlns:a16="http://schemas.microsoft.com/office/drawing/2014/main" id="{AC9482DE-C0C3-C2D7-CE93-C63EEAB351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58384" y="898610"/>
            <a:ext cx="457200" cy="457200"/>
          </a:xfrm>
          <a:prstGeom prst="rect">
            <a:avLst/>
          </a:prstGeom>
        </p:spPr>
      </p:pic>
    </p:spTree>
    <p:extLst>
      <p:ext uri="{BB962C8B-B14F-4D97-AF65-F5344CB8AC3E}">
        <p14:creationId xmlns:p14="http://schemas.microsoft.com/office/powerpoint/2010/main" val="3585766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DDFF83-9CFE-6296-4D8A-5210941555E1}"/>
              </a:ext>
            </a:extLst>
          </p:cNvPr>
          <p:cNvSpPr txBox="1"/>
          <p:nvPr/>
        </p:nvSpPr>
        <p:spPr>
          <a:xfrm>
            <a:off x="2871216" y="264793"/>
            <a:ext cx="4572000" cy="477054"/>
          </a:xfrm>
          <a:prstGeom prst="rect">
            <a:avLst/>
          </a:prstGeom>
          <a:noFill/>
        </p:spPr>
        <p:txBody>
          <a:bodyPr wrap="square">
            <a:spAutoFit/>
          </a:bodyPr>
          <a:lstStyle/>
          <a:p>
            <a:r>
              <a:rPr lang="en-IN" sz="2500" b="1" dirty="0">
                <a:latin typeface="Times New Roman" panose="02020603050405020304" pitchFamily="18" charset="0"/>
                <a:cs typeface="Times New Roman" panose="02020603050405020304" pitchFamily="18" charset="0"/>
              </a:rPr>
              <a:t>AI-Based Predictions</a:t>
            </a:r>
          </a:p>
        </p:txBody>
      </p:sp>
      <p:pic>
        <p:nvPicPr>
          <p:cNvPr id="5" name="Picture 4">
            <a:extLst>
              <a:ext uri="{FF2B5EF4-FFF2-40B4-BE49-F238E27FC236}">
                <a16:creationId xmlns:a16="http://schemas.microsoft.com/office/drawing/2014/main" id="{A45CDBE7-849C-F508-3531-7A97DAE4E01F}"/>
              </a:ext>
            </a:extLst>
          </p:cNvPr>
          <p:cNvPicPr>
            <a:picLocks noChangeAspect="1"/>
          </p:cNvPicPr>
          <p:nvPr/>
        </p:nvPicPr>
        <p:blipFill>
          <a:blip r:embed="rId2"/>
          <a:srcRect b="27703"/>
          <a:stretch>
            <a:fillRect/>
          </a:stretch>
        </p:blipFill>
        <p:spPr>
          <a:xfrm>
            <a:off x="153022" y="938627"/>
            <a:ext cx="8837956" cy="2935224"/>
          </a:xfrm>
          <a:prstGeom prst="rect">
            <a:avLst/>
          </a:prstGeom>
          <a:ln>
            <a:noFill/>
          </a:ln>
          <a:effectLst>
            <a:outerShdw blurRad="190500" algn="tl" rotWithShape="0">
              <a:srgbClr val="000000">
                <a:alpha val="70000"/>
              </a:srgbClr>
            </a:outerShdw>
          </a:effectLst>
        </p:spPr>
      </p:pic>
      <p:pic>
        <p:nvPicPr>
          <p:cNvPr id="7" name="Picture 6">
            <a:extLst>
              <a:ext uri="{FF2B5EF4-FFF2-40B4-BE49-F238E27FC236}">
                <a16:creationId xmlns:a16="http://schemas.microsoft.com/office/drawing/2014/main" id="{BA579A2B-8F23-6D12-8E28-F0EEEB9D6134}"/>
              </a:ext>
            </a:extLst>
          </p:cNvPr>
          <p:cNvPicPr>
            <a:picLocks noChangeAspect="1"/>
          </p:cNvPicPr>
          <p:nvPr/>
        </p:nvPicPr>
        <p:blipFill>
          <a:blip r:embed="rId3"/>
          <a:srcRect b="35895"/>
          <a:stretch>
            <a:fillRect/>
          </a:stretch>
        </p:blipFill>
        <p:spPr>
          <a:xfrm>
            <a:off x="292608" y="4267411"/>
            <a:ext cx="8357616" cy="23071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283737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78B7A7-8C26-0FF0-F65A-0D0AE066A3C3}"/>
              </a:ext>
            </a:extLst>
          </p:cNvPr>
          <p:cNvSpPr>
            <a:spLocks noChangeArrowheads="1"/>
          </p:cNvSpPr>
          <p:nvPr/>
        </p:nvSpPr>
        <p:spPr bwMode="auto">
          <a:xfrm>
            <a:off x="1682496" y="729954"/>
            <a:ext cx="6620256"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CUSTOMIZE YOUR BUDGET &amp; DATA</a:t>
            </a:r>
          </a:p>
        </p:txBody>
      </p:sp>
      <p:pic>
        <p:nvPicPr>
          <p:cNvPr id="4" name="Picture 3">
            <a:extLst>
              <a:ext uri="{FF2B5EF4-FFF2-40B4-BE49-F238E27FC236}">
                <a16:creationId xmlns:a16="http://schemas.microsoft.com/office/drawing/2014/main" id="{871E48BF-95BD-C2DA-2E3F-9AA7EF9D77CB}"/>
              </a:ext>
            </a:extLst>
          </p:cNvPr>
          <p:cNvPicPr>
            <a:picLocks noChangeAspect="1"/>
          </p:cNvPicPr>
          <p:nvPr/>
        </p:nvPicPr>
        <p:blipFill>
          <a:blip r:embed="rId2"/>
          <a:stretch>
            <a:fillRect/>
          </a:stretch>
        </p:blipFill>
        <p:spPr>
          <a:xfrm>
            <a:off x="75659" y="1740949"/>
            <a:ext cx="8836831" cy="4147787"/>
          </a:xfrm>
          <a:prstGeom prst="rect">
            <a:avLst/>
          </a:prstGeom>
        </p:spPr>
      </p:pic>
    </p:spTree>
    <p:extLst>
      <p:ext uri="{BB962C8B-B14F-4D97-AF65-F5344CB8AC3E}">
        <p14:creationId xmlns:p14="http://schemas.microsoft.com/office/powerpoint/2010/main" val="4082799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8000"/>
            <a:lum/>
          </a:blip>
          <a:srcRect/>
          <a:stretch>
            <a:fillRect l="-1000" r="-1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C44E13-D5FE-3B43-B809-253800FBBC98}"/>
              </a:ext>
            </a:extLst>
          </p:cNvPr>
          <p:cNvSpPr>
            <a:spLocks noChangeArrowheads="1"/>
          </p:cNvSpPr>
          <p:nvPr/>
        </p:nvSpPr>
        <p:spPr bwMode="auto">
          <a:xfrm>
            <a:off x="2862072" y="186666"/>
            <a:ext cx="4553712"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FLOW</a:t>
            </a:r>
          </a:p>
        </p:txBody>
      </p:sp>
      <p:sp>
        <p:nvSpPr>
          <p:cNvPr id="3" name="Rectangle 2">
            <a:extLst>
              <a:ext uri="{FF2B5EF4-FFF2-40B4-BE49-F238E27FC236}">
                <a16:creationId xmlns:a16="http://schemas.microsoft.com/office/drawing/2014/main" id="{C42C9895-AF5F-F423-1AD8-37822288865A}"/>
              </a:ext>
            </a:extLst>
          </p:cNvPr>
          <p:cNvSpPr>
            <a:spLocks noChangeArrowheads="1"/>
          </p:cNvSpPr>
          <p:nvPr/>
        </p:nvSpPr>
        <p:spPr bwMode="auto">
          <a:xfrm>
            <a:off x="317754" y="1111961"/>
            <a:ext cx="874623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1.Enter your monthly budget limit in the input field provided.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2.Click the “Save Budget” button to store your monthly budget settings.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3.Upload your expense data by dragging and dropping a CSV file into the upload area.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4.Ensure the CSV follows the required format: date, category, amount, and title.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onstantia" panose="02030602050306030303" pitchFamily="18" charset="0"/>
              </a:rPr>
              <a:t>5.Click the “Import CSV” button to process and store the uploaded expense data.</a:t>
            </a:r>
          </a:p>
        </p:txBody>
      </p:sp>
    </p:spTree>
    <p:extLst>
      <p:ext uri="{BB962C8B-B14F-4D97-AF65-F5344CB8AC3E}">
        <p14:creationId xmlns:p14="http://schemas.microsoft.com/office/powerpoint/2010/main" val="3777652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l="-17000" r="-17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805160-5C33-8C7B-19AB-01CF4F5A7935}"/>
              </a:ext>
            </a:extLst>
          </p:cNvPr>
          <p:cNvSpPr>
            <a:spLocks noChangeArrowheads="1"/>
          </p:cNvSpPr>
          <p:nvPr/>
        </p:nvSpPr>
        <p:spPr bwMode="auto">
          <a:xfrm>
            <a:off x="1042416" y="885182"/>
            <a:ext cx="6784848"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5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ENHANCEMENTS</a:t>
            </a:r>
          </a:p>
        </p:txBody>
      </p:sp>
      <p:sp>
        <p:nvSpPr>
          <p:cNvPr id="3" name="Rectangle 2">
            <a:extLst>
              <a:ext uri="{FF2B5EF4-FFF2-40B4-BE49-F238E27FC236}">
                <a16:creationId xmlns:a16="http://schemas.microsoft.com/office/drawing/2014/main" id="{8F33B8A6-C894-4732-D287-3985984E87EA}"/>
              </a:ext>
            </a:extLst>
          </p:cNvPr>
          <p:cNvSpPr>
            <a:spLocks noChangeArrowheads="1"/>
          </p:cNvSpPr>
          <p:nvPr/>
        </p:nvSpPr>
        <p:spPr bwMode="auto">
          <a:xfrm>
            <a:off x="1179576" y="2161914"/>
            <a:ext cx="688543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Automatic bill tracking and reminders</a:t>
            </a:r>
            <a:endParaRPr lang="en-US" altLang="en-US" sz="2000" b="1" dirty="0">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Integration with bank accounts and payment apps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Advanced data visualization and custom dashboards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Constantia" panose="02030602050306030303" pitchFamily="18" charset="0"/>
              </a:rPr>
              <a:t>Mobile app version with offline support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Constantia" panose="02030602050306030303" pitchFamily="18" charset="0"/>
            </a:endParaRPr>
          </a:p>
          <a:p>
            <a:pPr defTabSz="914400" eaLnBrk="0" fontAlgn="base" hangingPunct="0">
              <a:spcBef>
                <a:spcPct val="0"/>
              </a:spcBef>
              <a:spcAft>
                <a:spcPct val="0"/>
              </a:spcAft>
              <a:buFontTx/>
              <a:buChar char="•"/>
            </a:pPr>
            <a:r>
              <a:rPr lang="en-US" altLang="en-US" sz="2000" b="1" dirty="0">
                <a:latin typeface="Constantia" panose="02030602050306030303" pitchFamily="18" charset="0"/>
              </a:rPr>
              <a:t>Voice-enabled virtual assistant for financial queries</a:t>
            </a:r>
          </a:p>
        </p:txBody>
      </p:sp>
      <p:sp>
        <p:nvSpPr>
          <p:cNvPr id="4" name="Rectangle 3">
            <a:extLst>
              <a:ext uri="{FF2B5EF4-FFF2-40B4-BE49-F238E27FC236}">
                <a16:creationId xmlns:a16="http://schemas.microsoft.com/office/drawing/2014/main" id="{34D06E90-214C-F0CF-5C44-319185B929A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Voice-enabled virtual assistant for financial queries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76933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EC8DD4-E285-D5CA-CFFD-79BDB1AB40AE}"/>
              </a:ext>
            </a:extLst>
          </p:cNvPr>
          <p:cNvSpPr txBox="1"/>
          <p:nvPr/>
        </p:nvSpPr>
        <p:spPr>
          <a:xfrm>
            <a:off x="2542032" y="508492"/>
            <a:ext cx="4572000" cy="707886"/>
          </a:xfrm>
          <a:prstGeom prst="rect">
            <a:avLst/>
          </a:prstGeom>
          <a:noFill/>
        </p:spPr>
        <p:txBody>
          <a:bodyPr wrap="square">
            <a:spAutoFit/>
          </a:bodyPr>
          <a:lstStyle/>
          <a:p>
            <a:r>
              <a:rPr lang="en-IN" sz="4000" b="1" dirty="0">
                <a:latin typeface="Times New Roman" panose="02020603050405020304" pitchFamily="18" charset="0"/>
                <a:cs typeface="Times New Roman" panose="02020603050405020304" pitchFamily="18" charset="0"/>
              </a:rPr>
              <a:t>CONCLUSION </a:t>
            </a:r>
          </a:p>
        </p:txBody>
      </p:sp>
      <p:sp>
        <p:nvSpPr>
          <p:cNvPr id="6" name="Rectangle 1">
            <a:extLst>
              <a:ext uri="{FF2B5EF4-FFF2-40B4-BE49-F238E27FC236}">
                <a16:creationId xmlns:a16="http://schemas.microsoft.com/office/drawing/2014/main" id="{B7445C02-AE6B-B62B-4EFD-2FB148E085EB}"/>
              </a:ext>
            </a:extLst>
          </p:cNvPr>
          <p:cNvSpPr>
            <a:spLocks noChangeArrowheads="1"/>
          </p:cNvSpPr>
          <p:nvPr/>
        </p:nvSpPr>
        <p:spPr bwMode="auto">
          <a:xfrm>
            <a:off x="237744" y="1536174"/>
            <a:ext cx="866851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pPr>
            <a:r>
              <a:rPr lang="en-US" sz="2000" b="1" dirty="0">
                <a:latin typeface="Constantia" panose="02030602050306030303" pitchFamily="18" charset="0"/>
                <a:cs typeface="Times New Roman" panose="02020603050405020304" pitchFamily="18" charset="0"/>
              </a:rPr>
              <a:t>BUDGETWISE AI BASED EXPENSE FORECASTING TOOL</a:t>
            </a:r>
            <a:r>
              <a:rPr kumimoji="0" lang="en-US" altLang="en-US" sz="2000" b="1" i="0" u="none" strike="noStrike" cap="none" normalizeH="0" baseline="0" dirty="0">
                <a:ln>
                  <a:noFill/>
                </a:ln>
                <a:solidFill>
                  <a:schemeClr val="tx1"/>
                </a:solidFill>
                <a:effectLst/>
                <a:latin typeface="Constantia" panose="02030602050306030303" pitchFamily="18" charset="0"/>
              </a:rPr>
              <a:t> </a:t>
            </a:r>
            <a:r>
              <a:rPr kumimoji="0" lang="en-US" altLang="en-US" sz="2000" b="0" i="0" u="none" strike="noStrike" cap="none" normalizeH="0" baseline="0" dirty="0">
                <a:ln>
                  <a:noFill/>
                </a:ln>
                <a:solidFill>
                  <a:schemeClr val="tx1"/>
                </a:solidFill>
                <a:effectLst/>
                <a:latin typeface="Constantia" panose="02030602050306030303" pitchFamily="18" charset="0"/>
              </a:rPr>
              <a:t>provides an intelligent and user-friendly platform for managing personal finances by combining expense tracking, budgeting, predictive analytics, and data visualization. The system empowers users to gain better awareness of their spending habits, plan budgets effectively, and make informed financial decisions. With features such as AI-based predictions, anomaly detection, secure data handling, and CSV integration, </a:t>
            </a:r>
            <a:r>
              <a:rPr kumimoji="0" lang="en-US" altLang="en-US" sz="2000" b="0" i="0" u="none" strike="noStrike" cap="none" normalizeH="0" baseline="0" dirty="0" err="1">
                <a:ln>
                  <a:noFill/>
                </a:ln>
                <a:solidFill>
                  <a:schemeClr val="tx1"/>
                </a:solidFill>
                <a:effectLst/>
                <a:latin typeface="Constantia" panose="02030602050306030303" pitchFamily="18" charset="0"/>
              </a:rPr>
              <a:t>BudgetWise</a:t>
            </a:r>
            <a:r>
              <a:rPr kumimoji="0" lang="en-US" altLang="en-US" sz="2000" b="0" i="0" u="none" strike="noStrike" cap="none" normalizeH="0" baseline="0" dirty="0">
                <a:ln>
                  <a:noFill/>
                </a:ln>
                <a:solidFill>
                  <a:schemeClr val="tx1"/>
                </a:solidFill>
                <a:effectLst/>
                <a:latin typeface="Constantia" panose="02030602050306030303" pitchFamily="18" charset="0"/>
              </a:rPr>
              <a:t> goes beyond traditional finance tracking tools by offering actionable insights and automation. Although there are opportunities for future enhancements, the project demonstrates a strong foundation in full-stack development, machine learning, and UI design, showcasing its potential to evolve into a comprehensive financial management solution.</a:t>
            </a:r>
          </a:p>
        </p:txBody>
      </p:sp>
    </p:spTree>
    <p:extLst>
      <p:ext uri="{BB962C8B-B14F-4D97-AF65-F5344CB8AC3E}">
        <p14:creationId xmlns:p14="http://schemas.microsoft.com/office/powerpoint/2010/main" val="3891796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25D570-2B15-3379-2A23-66F8DCDF0CC6}"/>
              </a:ext>
            </a:extLst>
          </p:cNvPr>
          <p:cNvSpPr/>
          <p:nvPr/>
        </p:nvSpPr>
        <p:spPr>
          <a:xfrm>
            <a:off x="341761" y="2562508"/>
            <a:ext cx="8460478" cy="1477328"/>
          </a:xfrm>
          <a:prstGeom prst="rect">
            <a:avLst/>
          </a:prstGeom>
          <a:solidFill>
            <a:schemeClr val="tx2">
              <a:lumMod val="20000"/>
              <a:lumOff val="80000"/>
            </a:schemeClr>
          </a:solidFill>
          <a:ln>
            <a:solidFill>
              <a:schemeClr val="accent2">
                <a:lumMod val="50000"/>
              </a:schemeClr>
            </a:solidFill>
          </a:ln>
        </p:spPr>
        <p:txBody>
          <a:bodyPr wrap="square" lIns="91440" tIns="45720" rIns="91440" bIns="45720">
            <a:spAutoFit/>
          </a:bodyPr>
          <a:lstStyle/>
          <a:p>
            <a:pPr algn="ctr"/>
            <a:r>
              <a:rPr lang="en-US" sz="9000" b="1" cap="none" spc="0" dirty="0">
                <a:ln w="12700" cmpd="sng">
                  <a:solidFill>
                    <a:schemeClr val="accent4"/>
                  </a:solidFill>
                  <a:prstDash val="solid"/>
                </a:ln>
                <a:solidFill>
                  <a:schemeClr val="bg1">
                    <a:lumMod val="50000"/>
                  </a:schemeClr>
                </a:solidFill>
                <a:effectLst/>
              </a:rPr>
              <a:t>THANK YOU!!</a:t>
            </a:r>
          </a:p>
        </p:txBody>
      </p:sp>
    </p:spTree>
    <p:extLst>
      <p:ext uri="{BB962C8B-B14F-4D97-AF65-F5344CB8AC3E}">
        <p14:creationId xmlns:p14="http://schemas.microsoft.com/office/powerpoint/2010/main" val="971179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3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161</TotalTime>
  <Words>755</Words>
  <Application>Microsoft Office PowerPoint</Application>
  <PresentationFormat>On-screen Show (4:3)</PresentationFormat>
  <Paragraphs>69</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Century</vt:lpstr>
      <vt:lpstr>Constantia</vt:lpstr>
      <vt:lpstr>Myanmar Text</vt:lpstr>
      <vt:lpstr>Times New Roman</vt:lpstr>
      <vt:lpstr>Wingdings</vt:lpstr>
      <vt:lpstr>Office Theme</vt:lpstr>
      <vt:lpstr>INFOSYS SPRINGBOARD VIRTUAL INTERNSHIP 6.0   TEAM D</vt:lpstr>
      <vt:lpstr>ABSTRACT</vt:lpstr>
      <vt:lpstr>PowerPoint Presentation</vt:lpstr>
      <vt:lpstr>OBJECTIVES</vt:lpstr>
      <vt:lpstr>PowerPoint Presentation</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 Springboard Virtual Internship 6.0 - Team D</dc:title>
  <dc:subject/>
  <dc:creator/>
  <cp:keywords/>
  <dc:description>generated using python-pptx</dc:description>
  <cp:lastModifiedBy>A Rishika</cp:lastModifiedBy>
  <cp:revision>14</cp:revision>
  <dcterms:created xsi:type="dcterms:W3CDTF">2013-01-27T09:14:16Z</dcterms:created>
  <dcterms:modified xsi:type="dcterms:W3CDTF">2025-12-15T16:19:06Z</dcterms:modified>
  <cp:category/>
</cp:coreProperties>
</file>